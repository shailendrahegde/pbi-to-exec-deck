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6" r:id="rId9"/>
    <p:sldId id="267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14" y="3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E8137A-ED80-404D-975E-6C342ADC42AA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30233D-A00F-40B4-AB85-BD301EED9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39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30233D-A00F-40B4-AB85-BD301EED97B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735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2060"/>
                </a:solidFill>
                <a:latin typeface="Segoe UI"/>
              </a:defRPr>
            </a:pPr>
            <a:r>
              <a:t>AI Adoption Reality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0072C6"/>
                </a:solidFill>
                <a:latin typeface="Segoe UI"/>
              </a:defRPr>
            </a:pPr>
            <a:r>
              <a:t>Data-Driven Insights for Strategic AI Investment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rPr lang="en-US" dirty="0"/>
              <a:t>Executive summary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Wide platform reach but weak agent engagement</a:t>
            </a:r>
          </a:p>
          <a:p>
            <a:pPr>
              <a:spcAft>
                <a:spcPts val="10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Agent adoption stalled at 4% penetration despite 4,400+ Copilot users - untapped productivity potential</a:t>
            </a:r>
          </a:p>
          <a:p>
            <a:pPr>
              <a:spcAft>
                <a:spcPts val="10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87% of Agent users stuck in infrequent usage pattern (1-5 days/month) - habit formation crisis</a:t>
            </a:r>
          </a:p>
          <a:p>
            <a:pPr>
              <a:spcAft>
                <a:spcPts val="10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Finance, IT, and Legal show highest unlicensed engagement - immediate license upgrade candidates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t>Strong Copilot adoption masks critical Agent engagement gap requiring intervention</a:t>
            </a:r>
          </a:p>
        </p:txBody>
      </p:sp>
      <p:pic>
        <p:nvPicPr>
          <p:cNvPr id="3" name="Picture 2" descr="temp_copilo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911203"/>
          </a:xfrm>
          <a:prstGeom prst="rect">
            <a:avLst/>
          </a:prstGeom>
          <a:ln w="25400">
            <a:solidFill>
              <a:srgbClr val="0072C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142232" cy="2677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Broad platform reach established</a:t>
            </a:r>
          </a:p>
          <a:p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4,381 active Copilot users across segments (2,585 unlicensed, 1,616 M365, 180 agents)</a:t>
            </a:r>
          </a:p>
          <a:p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Agents driving accelerated adoption</a:t>
            </a:r>
            <a:b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3× growth in agent usage from March–June (7 → 21 actions per month), validating capability value</a:t>
            </a:r>
          </a:p>
          <a:p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Legal Ops proves power-user model</a:t>
            </a:r>
            <a:b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Legal Operations emerging as a power segment (35 actions/user, 6+ active days), creating a clear replication opportunity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t>96% of Copilot users have never tried Agents - massive awareness and adoption gap</a:t>
            </a:r>
          </a:p>
        </p:txBody>
      </p:sp>
      <p:pic>
        <p:nvPicPr>
          <p:cNvPr id="3" name="Picture 2" descr="temp_copilot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911203"/>
          </a:xfrm>
          <a:prstGeom prst="rect">
            <a:avLst/>
          </a:prstGeom>
          <a:ln w="25400">
            <a:solidFill>
              <a:srgbClr val="0072C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142232" cy="276998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/>
              <a:t>Agents awareness gap is severe today</a:t>
            </a:r>
            <a:br>
              <a:rPr lang="en-US"/>
            </a:br>
            <a:r>
              <a:rPr dirty="0"/>
              <a:t>Only 4% of 4,200+ Copilot users have adopted Agents across licensed and unlicensed segments</a:t>
            </a:r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b="1">
                <a:solidFill>
                  <a:srgbClr val="002060"/>
                </a:solidFill>
                <a:latin typeface="Segoe UI" panose="020B0502040204020203" pitchFamily="34" charset="0"/>
              </a:rPr>
              <a:t>Finance</a:t>
            </a:r>
            <a:r>
              <a:rPr lang="en-US" b="1"/>
              <a:t> is the proof-point segment for enablement</a:t>
            </a:r>
            <a:br>
              <a:rPr lang="en-US"/>
            </a:br>
            <a:r>
              <a:rPr lang="en-US"/>
              <a:t>Finance </a:t>
            </a:r>
            <a:r>
              <a:rPr dirty="0"/>
              <a:t>shows 7% agent adoption (highest) </a:t>
            </a:r>
            <a:r>
              <a:rPr lang="en-US"/>
              <a:t>with </a:t>
            </a:r>
            <a:r>
              <a:rPr dirty="0"/>
              <a:t>109 prompts/user</a:t>
            </a:r>
            <a:r>
              <a:rPr lang="en-US"/>
              <a:t>, validating</a:t>
            </a:r>
            <a:r>
              <a:rPr dirty="0"/>
              <a:t> targeted enablement</a:t>
            </a:r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b="1">
                <a:solidFill>
                  <a:srgbClr val="002060"/>
                </a:solidFill>
                <a:latin typeface="Segoe UI" panose="020B0502040204020203" pitchFamily="34" charset="0"/>
              </a:rPr>
              <a:t>4,000+ users are not activating Agents</a:t>
            </a:r>
            <a:br>
              <a:rPr lang="en-US"/>
            </a:br>
            <a:r>
              <a:rPr dirty="0"/>
              <a:t>Gap represents 4,000+ users unaware of or unmotivated to try agentic capabilities</a:t>
            </a:r>
            <a:r>
              <a:rPr lang="en-US"/>
              <a:t>—</a:t>
            </a:r>
            <a:r>
              <a:rPr dirty="0"/>
              <a:t>immediate action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rPr lang="en-US" dirty="0"/>
              <a:t>Agent usage is infrequent</a:t>
            </a:r>
            <a:r>
              <a:rPr dirty="0"/>
              <a:t>- usage has not embedded into workflows</a:t>
            </a:r>
          </a:p>
        </p:txBody>
      </p:sp>
      <p:pic>
        <p:nvPicPr>
          <p:cNvPr id="3" name="Picture 2" descr="temp_agents_ha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911203"/>
          </a:xfrm>
          <a:prstGeom prst="rect">
            <a:avLst/>
          </a:prstGeom>
          <a:ln w="25400">
            <a:solidFill>
              <a:srgbClr val="0072C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142232" cy="27084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No daily users; only 3% frequent</a:t>
            </a:r>
            <a:br>
              <a:rPr lang="en-US" dirty="0"/>
            </a:br>
            <a:r>
              <a:rPr dirty="0"/>
              <a:t>Zero daily users (20+ days/month</a:t>
            </a:r>
            <a:r>
              <a:rPr lang="en-US" dirty="0"/>
              <a:t>); </a:t>
            </a:r>
            <a:r>
              <a:rPr dirty="0"/>
              <a:t>only 3% frequent users</a:t>
            </a:r>
            <a:endParaRPr lang="en-US" dirty="0"/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Users try once but do not integrate into daily workflows</a:t>
            </a:r>
            <a:endParaRPr dirty="0"/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Finance</a:t>
            </a:r>
            <a:r>
              <a:rPr lang="en-US" b="1" dirty="0"/>
              <a:t> and Legal lead at 16 actions/user</a:t>
            </a:r>
            <a:br>
              <a:rPr lang="en-US" dirty="0"/>
            </a:br>
            <a:r>
              <a:rPr lang="en-US" dirty="0"/>
              <a:t>Finance and Legal </a:t>
            </a:r>
            <a:r>
              <a:rPr dirty="0"/>
              <a:t>show highest engagement (16 actions/user</a:t>
            </a:r>
            <a:r>
              <a:rPr lang="en-US" dirty="0"/>
              <a:t>); usage is </a:t>
            </a:r>
            <a:r>
              <a:rPr dirty="0"/>
              <a:t>still infrequent</a:t>
            </a:r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br>
              <a:rPr lang="en-US" dirty="0"/>
            </a:b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rPr dirty="0"/>
              <a:t>Visual Creator captures 99 of 180 users - single use case driving </a:t>
            </a:r>
            <a:r>
              <a:rPr lang="en-US" dirty="0"/>
              <a:t>a majority of adoption</a:t>
            </a:r>
            <a:endParaRPr dirty="0"/>
          </a:p>
        </p:txBody>
      </p:sp>
      <p:pic>
        <p:nvPicPr>
          <p:cNvPr id="3" name="Picture 2" descr="temp_agents_ha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911203"/>
          </a:xfrm>
          <a:prstGeom prst="rect">
            <a:avLst/>
          </a:prstGeom>
          <a:ln w="25400">
            <a:solidFill>
              <a:srgbClr val="0072C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142232" cy="31085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>
                <a:solidFill>
                  <a:srgbClr val="000000"/>
                </a:solidFill>
                <a:cs typeface="Segoe UI" panose="020B0502040204020203" pitchFamily="34" charset="0"/>
              </a:rPr>
              <a:t>Visual Creator concentrates most agent users</a:t>
            </a:r>
            <a:endParaRPr lang="en-US" dirty="0"/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>
                <a:solidFill>
                  <a:srgbClr val="000000"/>
                </a:solidFill>
                <a:cs typeface="Segoe UI" panose="020B0502040204020203" pitchFamily="34" charset="0"/>
              </a:rPr>
              <a:t>55% of Agent users concentrated in Visual Creator (656 actions) while other agents see minimal usage</a:t>
            </a:r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endParaRPr lang="en-US" sz="1400" b="1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b="1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IT</a:t>
            </a:r>
            <a:r>
              <a:rPr lang="en-US" b="1" dirty="0">
                <a:solidFill>
                  <a:srgbClr val="000000"/>
                </a:solidFill>
                <a:cs typeface="Segoe UI" panose="020B0502040204020203" pitchFamily="34" charset="0"/>
              </a:rPr>
              <a:t> Service Agent shows high usage depth</a:t>
            </a:r>
            <a:endParaRPr lang="en-US" dirty="0"/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>
                <a:solidFill>
                  <a:srgbClr val="000000"/>
                </a:solidFill>
                <a:cs typeface="Segoe UI" panose="020B0502040204020203" pitchFamily="34" charset="0"/>
              </a:rPr>
              <a:t>IT Service Agent (9 users, 323 actions) shows depth potential with high actions per engaged user</a:t>
            </a:r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endParaRPr lang="en-US" b="1" dirty="0">
              <a:solidFill>
                <a:srgbClr val="000000"/>
              </a:solidFill>
              <a:cs typeface="Segoe UI" panose="020B0502040204020203" pitchFamily="34" charset="0"/>
            </a:endParaRPr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>
                <a:solidFill>
                  <a:srgbClr val="000000"/>
                </a:solidFill>
                <a:cs typeface="Segoe UI" panose="020B0502040204020203" pitchFamily="34" charset="0"/>
              </a:rPr>
              <a:t>Agent value seen as single-purpose today</a:t>
            </a:r>
            <a:endParaRPr lang="en-US" dirty="0">
              <a:solidFill>
                <a:srgbClr val="002060"/>
              </a:solidFill>
            </a:endParaRPr>
          </a:p>
          <a:p>
            <a:pPr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Concentration risk: Agent value proposition currently perceived as single-purpose vs. platform capability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t>Finance, IT, and Legal unlicensed power users represent immediate ROI upgrade targets</a:t>
            </a:r>
          </a:p>
        </p:txBody>
      </p:sp>
      <p:pic>
        <p:nvPicPr>
          <p:cNvPr id="3" name="Picture 2" descr="temp_lic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911203"/>
          </a:xfrm>
          <a:prstGeom prst="rect">
            <a:avLst/>
          </a:prstGeom>
          <a:ln w="25400">
            <a:solidFill>
              <a:srgbClr val="0072C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142232" cy="1908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Large unlicensed user base with high activity</a:t>
            </a:r>
            <a:br>
              <a:rPr lang="en-US" dirty="0"/>
            </a:br>
            <a:r>
              <a:rPr lang="en-US" dirty="0"/>
              <a:t>2,585 unlicensed users; 203K actions (27 prompts/user/month avg)</a:t>
            </a:r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Activity concentration in Finance, Legal, Operations</a:t>
            </a:r>
          </a:p>
          <a:p>
            <a:pPr>
              <a:spcAft>
                <a:spcPts val="12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Conversion</a:t>
            </a:r>
            <a:r>
              <a:rPr lang="en-US" b="1" dirty="0"/>
              <a:t> focus: 25+ prompts and 4+ days</a:t>
            </a:r>
            <a:br>
              <a:rPr lang="en-US" dirty="0"/>
            </a:br>
            <a:r>
              <a:rPr lang="en-US" dirty="0"/>
              <a:t>25+ prompts/user and 4+ active 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  <a:latin typeface="Segoe UI"/>
              </a:defRPr>
            </a:pPr>
            <a:r>
              <a:t>Strategic Action 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72C6"/>
                </a:solidFill>
                <a:latin typeface="Segoe UI"/>
              </a:defRPr>
            </a:pPr>
            <a:r>
              <a:rPr lang="en-US" dirty="0"/>
              <a:t>Recommendations and Next Steps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073888"/>
            <a:ext cx="10972800" cy="527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Data reveals adoption paradox: strong platform reach with weak Agent engagement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Current state: 4,381 Copilot users but only 4% trying Agents, 87% infrequent usage, 203K unlicensed actions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Three priorities: Agent awareness blitz, habit formation program, strategic license upgrades (Finance/IT/Legal)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Success metrics: Track Agent penetration, daily user %, and license conversion rate monthly through Q2 2026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endParaRPr lang="en-US" b="1" dirty="0"/>
          </a:p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Action 1: Launch targeted Agent awareness campaign to 96% who have never tried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Launch department-specific Agent showcases in Finance and Legal (highest current success)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Deploy Visual Creator quick-start guides to all 2,585 unlicensed users as gateway drug to platform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dirty="0"/>
              <a:t>Establish Agent champions program in departments showing &gt;10 actions/user to evangelize use cases</a:t>
            </a:r>
            <a:endParaRPr lang="en-US" dirty="0"/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endParaRPr lang="en-US" dirty="0"/>
          </a:p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Action 2: Convert proven unlicensed power users to revenue-generating licensed customers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Phase 1: Upgrade Finance (324 users, 38 prompts/user) and Legal (314 users, 29 prompts/user) to M365 Copilot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Target users with &gt;25 monthly prompts and &gt;4 active days as proven engaged audience for M365 features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endParaRPr lang="en-US" dirty="0"/>
          </a:p>
          <a:p>
            <a:pPr>
              <a:spcBef>
                <a:spcPts val="300"/>
              </a:spcBef>
              <a:spcAft>
                <a:spcPts val="300"/>
              </a:spcAft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b="1" dirty="0"/>
              <a:t>Action 3: Implement 30-day habit formation program to convert infrequent to frequent users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Design daily use case prompts for Finance (16 actions/user) to push from infrequent to frequent tier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Create workflow integration guides showing how to embed Agent calls into existing business processes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002060"/>
                </a:solidFill>
                <a:latin typeface="Segoe UI"/>
              </a:defRPr>
            </a:pPr>
            <a:r>
              <a:rPr lang="en-US" dirty="0"/>
              <a:t>Set target: Move 20% of 101 infrequent users to moderate tier (6-10 days/month) within 90 days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737</Words>
  <Application>Microsoft Office PowerPoint</Application>
  <PresentationFormat>Custom</PresentationFormat>
  <Paragraphs>57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Shailendra Hegde</cp:lastModifiedBy>
  <cp:revision>4</cp:revision>
  <dcterms:created xsi:type="dcterms:W3CDTF">2013-01-27T09:14:16Z</dcterms:created>
  <dcterms:modified xsi:type="dcterms:W3CDTF">2026-02-21T00:13:49Z</dcterms:modified>
  <cp:category/>
</cp:coreProperties>
</file>