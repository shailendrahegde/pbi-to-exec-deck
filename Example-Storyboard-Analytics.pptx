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2060"/>
                </a:solidFill>
                <a:latin typeface="Segoe UI"/>
              </a:defRPr>
            </a:pPr>
            <a:r>
              <a:t>AI Adoption Reality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3891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72C6"/>
                </a:solidFill>
                <a:latin typeface="Segoe UI"/>
              </a:defRPr>
            </a:pPr>
            <a:r>
              <a:t>Data-Driven Insights for Strategic AI Investment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2C6"/>
                </a:solidFill>
                <a:latin typeface="Segoe UI"/>
              </a:defRPr>
            </a:pPr>
            <a:r>
              <a:t>The Strategic Imperative: Three Critical Actions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Agent adoption stalled at 4% penetration despite 4,400+ Copilot users - untapped productivity potential</a:t>
            </a:r>
          </a:p>
          <a:p>
            <a:pPr>
              <a:spcAft>
                <a:spcPts val="10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87% of Agent users stuck in infrequent usage pattern (1-5 days/month) - habit formation crisis</a:t>
            </a:r>
          </a:p>
          <a:p>
            <a:pPr>
              <a:spcAft>
                <a:spcPts val="10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Finance, IT, and Legal show highest unlicensed engagement - immediate license upgrade candidates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2060"/>
                </a:solidFill>
                <a:latin typeface="Segoe UI"/>
              </a:defRPr>
            </a:pPr>
            <a:r>
              <a:t>The Opportunity Gap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2C6"/>
                </a:solidFill>
                <a:latin typeface="Segoe UI"/>
              </a:defRPr>
            </a:pPr>
            <a:r>
              <a:t>Strong Copilot adoption masks critical Agent engagement gap requiring intervention</a:t>
            </a:r>
          </a:p>
        </p:txBody>
      </p:sp>
      <p:pic>
        <p:nvPicPr>
          <p:cNvPr id="3" name="Picture 2" descr="temp_copilot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3911203"/>
          </a:xfrm>
          <a:prstGeom prst="rect">
            <a:avLst/>
          </a:prstGeom>
          <a:ln w="25400">
            <a:solidFill>
              <a:srgbClr val="0072C6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7589520" y="1371600"/>
            <a:ext cx="4142232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4,381 active Copilot users (2,585 unlicensed + 1,616 M365 + 180 agents) demonstrate platform reach</a:t>
            </a:r>
          </a:p>
          <a:p>
            <a:pPr>
              <a:spcAft>
                <a:spcPts val="12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Agent users show 3x growth trajectory (7 to 21 actions/month Mar-Jun) validating capability value</a:t>
            </a:r>
          </a:p>
          <a:p>
            <a:pPr>
              <a:spcAft>
                <a:spcPts val="12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Legal Operations emerged as power user segment (35 actions/user, 6+ active days) - replication opportunity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2C6"/>
                </a:solidFill>
                <a:latin typeface="Segoe UI"/>
              </a:defRPr>
            </a:pPr>
            <a:r>
              <a:t>96% of Copilot users have never tried Agents - massive awareness and adoption gap</a:t>
            </a:r>
          </a:p>
        </p:txBody>
      </p:sp>
      <p:pic>
        <p:nvPicPr>
          <p:cNvPr id="3" name="Picture 2" descr="temp_copilot_leader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3911203"/>
          </a:xfrm>
          <a:prstGeom prst="rect">
            <a:avLst/>
          </a:prstGeom>
          <a:ln w="25400">
            <a:solidFill>
              <a:srgbClr val="0072C6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7589520" y="1371600"/>
            <a:ext cx="4142232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Only 4% of 4,200+ Copilot users have adopted Agents across both licensed and unlicensed segments</a:t>
            </a:r>
          </a:p>
          <a:p>
            <a:pPr>
              <a:spcAft>
                <a:spcPts val="12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Finance shows 7% agent adoption (highest) at 109 prompts/user - proof point for targeted enablement</a:t>
            </a:r>
          </a:p>
          <a:p>
            <a:pPr>
              <a:spcAft>
                <a:spcPts val="12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Gap represents 4,000+ users unaware of or unmotivated to try agentic capabilities - immediate action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2C6"/>
                </a:solidFill>
                <a:latin typeface="Segoe UI"/>
              </a:defRPr>
            </a:pPr>
            <a:r>
              <a:t>87% of Agent users remain infrequent - usage has not embedded into workflows</a:t>
            </a:r>
          </a:p>
        </p:txBody>
      </p:sp>
      <p:pic>
        <p:nvPicPr>
          <p:cNvPr id="3" name="Picture 2" descr="temp_agents_hab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3911203"/>
          </a:xfrm>
          <a:prstGeom prst="rect">
            <a:avLst/>
          </a:prstGeom>
          <a:ln w="25400">
            <a:solidFill>
              <a:srgbClr val="0072C6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7589520" y="1371600"/>
            <a:ext cx="4142232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Zero daily users (20+ days/month) and only 3% frequent users signals fundamental adoption challenge</a:t>
            </a:r>
          </a:p>
          <a:p>
            <a:pPr>
              <a:spcAft>
                <a:spcPts val="12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Finance and Legal show highest engagement (16 actions/user) yet still infrequent - onboarding gap</a:t>
            </a:r>
          </a:p>
          <a:p>
            <a:pPr>
              <a:spcAft>
                <a:spcPts val="12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Pattern suggests discovery phase stuck - users try once but fail to integrate into daily workflows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2C6"/>
                </a:solidFill>
                <a:latin typeface="Segoe UI"/>
              </a:defRPr>
            </a:pPr>
            <a:r>
              <a:t>Visual Creator captures 99 of 180 users - single use case driving all adoption</a:t>
            </a:r>
          </a:p>
        </p:txBody>
      </p:sp>
      <p:pic>
        <p:nvPicPr>
          <p:cNvPr id="3" name="Picture 2" descr="temp_agents_hab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3911203"/>
          </a:xfrm>
          <a:prstGeom prst="rect">
            <a:avLst/>
          </a:prstGeom>
          <a:ln w="25400">
            <a:solidFill>
              <a:srgbClr val="0072C6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7589520" y="1371600"/>
            <a:ext cx="4142232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55% of Agent users concentrated in Visual Creator (656 actions) while other agents see minimal usage</a:t>
            </a:r>
          </a:p>
          <a:p>
            <a:pPr>
              <a:spcAft>
                <a:spcPts val="12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IT Service Agent (9 users, 323 actions) shows depth potential with high actions per engaged user</a:t>
            </a:r>
          </a:p>
          <a:p>
            <a:pPr>
              <a:spcAft>
                <a:spcPts val="12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Concentration risk: Agent value proposition currently perceived as single-purpose vs. platform capability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2060"/>
                </a:solidFill>
                <a:latin typeface="Segoe UI"/>
              </a:defRPr>
            </a:pPr>
            <a:r>
              <a:t>License 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2C6"/>
                </a:solidFill>
                <a:latin typeface="Segoe UI"/>
              </a:defRPr>
            </a:pPr>
            <a:r>
              <a:t>Finance, IT, and Legal unlicensed power users represent immediate ROI upgrade targets</a:t>
            </a:r>
          </a:p>
        </p:txBody>
      </p:sp>
      <p:pic>
        <p:nvPicPr>
          <p:cNvPr id="3" name="Picture 2" descr="temp_lic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3911203"/>
          </a:xfrm>
          <a:prstGeom prst="rect">
            <a:avLst/>
          </a:prstGeom>
          <a:ln w="25400">
            <a:solidFill>
              <a:srgbClr val="0072C6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7589520" y="1371600"/>
            <a:ext cx="4142232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Finance (38 prompts/user), IT (24 prompts), Legal (29 prompts) show sustained high usage in unlicensed tier</a:t>
            </a:r>
          </a:p>
          <a:p>
            <a:pPr>
              <a:spcAft>
                <a:spcPts val="12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Priority matrix identifies these departments in high-value quadrant (usage + consistency above threshold)</a:t>
            </a:r>
          </a:p>
          <a:p>
            <a:pPr>
              <a:spcAft>
                <a:spcPts val="12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Converting these 324 + 291 + 314 = 929 users captures proven high-engagement audience for license revenue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2C6"/>
                </a:solidFill>
                <a:latin typeface="Segoe UI"/>
              </a:defRPr>
            </a:pPr>
            <a:r>
              <a:t>203K unlicensed actions demonstrate platform value but foregone premium feature adoption</a:t>
            </a:r>
          </a:p>
        </p:txBody>
      </p:sp>
      <p:pic>
        <p:nvPicPr>
          <p:cNvPr id="3" name="Picture 2" descr="temp_lic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3911203"/>
          </a:xfrm>
          <a:prstGeom prst="rect">
            <a:avLst/>
          </a:prstGeom>
          <a:ln w="25400">
            <a:solidFill>
              <a:srgbClr val="0072C6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7589520" y="1371600"/>
            <a:ext cx="4142232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2,585 unlicensed users generating 203K actions (27 prompts/user/month avg) validate core value proposition</a:t>
            </a:r>
          </a:p>
          <a:p>
            <a:pPr>
              <a:spcAft>
                <a:spcPts val="12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Activity concentration in Finance, Legal, Operations suggests enterprise use cases ready for M365 integration</a:t>
            </a:r>
          </a:p>
          <a:p>
            <a:pPr>
              <a:spcAft>
                <a:spcPts val="12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License strategy: Target departments with 25+ prompts/user and 4+ active days as conversion priority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2060"/>
                </a:solidFill>
                <a:latin typeface="Segoe UI"/>
              </a:defRPr>
            </a:pPr>
            <a:r>
              <a:t>Strategic Action Plan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2C6"/>
                </a:solidFill>
                <a:latin typeface="Segoe UI"/>
              </a:defRPr>
            </a:pPr>
            <a:r>
              <a:t>Action 1: Launch targeted Agent awareness campaign to 96% who have never tried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Launch department-specific Agent showcases in Finance and Legal (highest current success)</a:t>
            </a:r>
          </a:p>
          <a:p>
            <a:pPr>
              <a:spcAft>
                <a:spcPts val="10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Deploy Visual Creator quick-start guides to all 2,585 unlicensed users as gateway drug to platform</a:t>
            </a:r>
          </a:p>
          <a:p>
            <a:pPr>
              <a:spcAft>
                <a:spcPts val="10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Establish Agent champions program in departments showing &gt;10 actions/user to evangelize use cases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2C6"/>
                </a:solidFill>
                <a:latin typeface="Segoe UI"/>
              </a:defRPr>
            </a:pPr>
            <a:r>
              <a:t>Action 2: Implement 30-day habit formation program to convert infrequent to frequent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Design daily use case prompts for Finance (16 actions/user) to push from infrequent to frequent tier</a:t>
            </a:r>
          </a:p>
          <a:p>
            <a:pPr>
              <a:spcAft>
                <a:spcPts val="10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Create workflow integration guides showing how to embed Agent calls into existing business processes</a:t>
            </a:r>
          </a:p>
          <a:p>
            <a:pPr>
              <a:spcAft>
                <a:spcPts val="10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Set target: Move 20% of 101 infrequent users to moderate tier (6-10 days/month) within 90 days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2C6"/>
                </a:solidFill>
                <a:latin typeface="Segoe UI"/>
              </a:defRPr>
            </a:pPr>
            <a:r>
              <a:t>Action 3: Prioritize 900+ Finance/IT/Legal users for M365 license upgrades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Phase 1: Upgrade Finance (324 users, 38 prompts/user) and Legal (314 users, 29 prompts/user) high-value cohort</a:t>
            </a:r>
          </a:p>
          <a:p>
            <a:pPr>
              <a:spcAft>
                <a:spcPts val="10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Target users with &gt;25 monthly prompts and &gt;4 active days as proven engaged audience for M365 features</a:t>
            </a:r>
          </a:p>
          <a:p>
            <a:pPr>
              <a:spcAft>
                <a:spcPts val="10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Expected outcome: Convert proven unlicensed power users to revenue-generating licensed customers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2C6"/>
                </a:solidFill>
                <a:latin typeface="Segoe UI"/>
              </a:defRPr>
            </a:pPr>
            <a:r>
              <a:t>Expected outcomes: 10x Agent adoption, 50% habit formation improvement, 900 license conversions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Agent adoption: From 180 to 1,800+ users (4% to 40% penetration) via awareness campaign and champion network</a:t>
            </a:r>
          </a:p>
          <a:p>
            <a:pPr>
              <a:spcAft>
                <a:spcPts val="10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Habit formation: From 0% daily users to 15% daily users via 30-day integration program in Finance/Legal</a:t>
            </a:r>
          </a:p>
          <a:p>
            <a:pPr>
              <a:spcAft>
                <a:spcPts val="10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License revenue: Convert 900 high-value unlicensed users in Finance/IT/Legal to M365 premium tier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2C6"/>
                </a:solidFill>
                <a:latin typeface="Segoe UI"/>
              </a:defRPr>
            </a:pPr>
            <a:r>
              <a:t>Data reveals adoption paradox: strong platform reach with weak Agent 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Current state: 4,381 Copilot users but only 4% trying Agents, 87% infrequent usage, 203K unlicensed actions</a:t>
            </a:r>
          </a:p>
          <a:p>
            <a:pPr>
              <a:spcAft>
                <a:spcPts val="10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Three priorities: Agent awareness blitz, habit formation program, strategic license upgrades (Finance/IT/Legal)</a:t>
            </a:r>
          </a:p>
          <a:p>
            <a:pPr>
              <a:spcAft>
                <a:spcPts val="1000"/>
              </a:spcAft>
              <a:defRPr sz="1400">
                <a:solidFill>
                  <a:srgbClr val="002060"/>
                </a:solidFill>
                <a:latin typeface="Segoe UI"/>
              </a:defRPr>
            </a:pPr>
            <a:r>
              <a:t>Success metrics: Track Agent penetration, daily user %, and license conversion rate monthly through Q2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